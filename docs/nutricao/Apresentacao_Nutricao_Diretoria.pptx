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0"/>
            <a:ext cx="12191695" cy="109728"/>
          </a:xfrm>
          <a:prstGeom prst="rect">
            <a:avLst/>
          </a:prstGeom>
          <a:solidFill>
            <a:srgbClr val="A8C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A8C53A"/>
                </a:solidFill>
                <a:latin typeface="Calibri"/>
              </a:rPr>
              <a:t>SÃO GERALDO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Nutrição Hospitalar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E7EEF8"/>
                </a:solidFill>
                <a:latin typeface="Calibri"/>
              </a:rPr>
              <a:t>Apresentação à Diretoria — visão de valor, operação e governança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150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Calibri"/>
              </a:rPr>
              <a:t>Plataforma MeuApp  ·  Módulo integrado  ·  Uso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8C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Objetivo / problema que resolve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B5563"/>
                </a:solidFill>
                <a:latin typeface="Calibri"/>
              </a:rPr>
              <a:t>Por que investir no módulo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0F2A56"/>
                </a:solidFill>
                <a:latin typeface="Calibri"/>
              </a:rPr>
              <a:t>•  Unificar a produção diária de refeições em um mapa oficial por clínica e enfermaria.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2A56"/>
                </a:solidFill>
                <a:latin typeface="Calibri"/>
              </a:rPr>
              <a:t>•  Eliminar planilhas soltas e perda de histórico ao “apagar” pacientes.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2A56"/>
                </a:solidFill>
                <a:latin typeface="Calibri"/>
              </a:rPr>
              <a:t>•  Padronizar dietas, horários (com hora limite), cardápios e preços.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2A56"/>
                </a:solidFill>
                <a:latin typeface="Calibri"/>
              </a:rPr>
              <a:t>•  Dar rastreabilidade: motivo de saída, usuário e data/hora da alteração.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2A56"/>
                </a:solidFill>
                <a:latin typeface="Calibri"/>
              </a:rPr>
              <a:t>•  Apoiar faturamento, etiquetas e totalizações a partir da mesma fonte de verdade.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Calibri"/>
              </a:rPr>
              <a:t>São Geraldo Service  ·  Nutrição Hospitalar  ·  2/13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8229600" cy="5000"/>
          </a:xfrm>
          <a:prstGeom prst="rect">
            <a:avLst/>
          </a:prstGeom>
          <a:solidFill>
            <a:srgbClr val="C5D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8C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Visão geral do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B5563"/>
                </a:solidFill>
                <a:latin typeface="Calibri"/>
              </a:rPr>
              <a:t>Um sistema, vários papéis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0F2A56"/>
                </a:solidFill>
                <a:latin typeface="Calibri"/>
              </a:rPr>
              <a:t>•  Operação: Mapa de Produção do dia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0F2A56"/>
                </a:solidFill>
                <a:latin typeface="Calibri"/>
              </a:rPr>
              <a:t>•  Cadastros clínicos e nutricionais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0F2A56"/>
                </a:solidFill>
                <a:latin typeface="Calibri"/>
              </a:rPr>
              <a:t>•  Cardápios e dietas líquidas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0F2A56"/>
                </a:solidFill>
                <a:latin typeface="Calibri"/>
              </a:rPr>
              <a:t>•  Preços (Funcionário / Paciente / Acompanhante)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7373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0F2A56"/>
                </a:solidFill>
                <a:latin typeface="Calibri"/>
              </a:rPr>
              <a:t>•  Estoque, produtos e fornecedores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0F2A56"/>
                </a:solidFill>
                <a:latin typeface="Calibri"/>
              </a:rPr>
              <a:t>•  Tabela de nutrientes + importação FDC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0F2A56"/>
                </a:solidFill>
                <a:latin typeface="Calibri"/>
              </a:rPr>
              <a:t>•  Etiquetas, U.M.A., totalização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0F2A56"/>
                </a:solidFill>
                <a:latin typeface="Calibri"/>
              </a:rPr>
              <a:t>•  Faturamento e análise de custos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029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Calibri"/>
              </a:rPr>
              <a:t>Acesso: login da plataforma → hub Sistemas → Nutrição  |  Atalho técnico: iniciar_meuapp.bat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Calibri"/>
              </a:rPr>
              <a:t>São Geraldo Service  ·  Nutrição Hospitalar  ·  3/13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355080"/>
            <a:ext cx="8229600" cy="5000"/>
          </a:xfrm>
          <a:prstGeom prst="rect">
            <a:avLst/>
          </a:prstGeom>
          <a:solidFill>
            <a:srgbClr val="C5D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8C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Mapa de Produção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B5563"/>
                </a:solidFill>
                <a:latin typeface="Calibri"/>
              </a:rPr>
              <a:t>Coração da operação do 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0F2A56"/>
                </a:solidFill>
                <a:latin typeface="Calibri"/>
              </a:rPr>
              <a:t>•  Filtros por clínica e enfermaria — a grade só carrega após o filtro (evita confusão e sobrecarga).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0F2A56"/>
                </a:solidFill>
                <a:latin typeface="Calibri"/>
              </a:rPr>
              <a:t>•  Navegação dia a dia com persistência automática das linhas ativas.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0F2A56"/>
                </a:solidFill>
                <a:latin typeface="Calibri"/>
              </a:rPr>
              <a:t>•  Flags de refeição: Desjejum, Colação, Almoço, Merenda, Jantar e Ceia.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0F2A56"/>
                </a:solidFill>
                <a:latin typeface="Calibri"/>
              </a:rPr>
              <a:t>•  Campos complementares: extras, suplementos, enteral, fórmula infantil, LVE, observação de etiqueta.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0F2A56"/>
                </a:solidFill>
                <a:latin typeface="Calibri"/>
              </a:rPr>
              <a:t>•  Substituições de cardápio com justificativa; avisos quando alta aparece em datas futuras.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0F2A56"/>
                </a:solidFill>
                <a:latin typeface="Calibri"/>
              </a:rPr>
              <a:t>•  Inserção explícita de pacientes; exclusão somente com motivo (alta, óbito ou transferência).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Calibri"/>
              </a:rPr>
              <a:t>São Geraldo Service  ·  Nutrição Hospitalar  ·  4/13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8229600" cy="5000"/>
          </a:xfrm>
          <a:prstGeom prst="rect">
            <a:avLst/>
          </a:prstGeom>
          <a:solidFill>
            <a:srgbClr val="C5D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8C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Cadastros clínicos e de cardápio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B5563"/>
                </a:solidFill>
                <a:latin typeface="Calibri"/>
              </a:rPr>
              <a:t>Base para padronização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0F2A56"/>
                </a:solidFill>
                <a:latin typeface="Calibri"/>
              </a:rPr>
              <a:t>•  Pacientes, clínicas, enfermarias e leitos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0F2A56"/>
                </a:solidFill>
                <a:latin typeface="Calibri"/>
              </a:rPr>
              <a:t>•  Dietas com categoria e grupo visual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0F2A56"/>
                </a:solidFill>
                <a:latin typeface="Calibri"/>
              </a:rPr>
              <a:t>•  Grupos de dietas (ordem de exibição)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0F2A56"/>
                </a:solidFill>
                <a:latin typeface="Calibri"/>
              </a:rPr>
              <a:t>•  Tipos de refeição com hora limite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6916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0F2A56"/>
                </a:solidFill>
                <a:latin typeface="Calibri"/>
              </a:rPr>
              <a:t>•  Cardápios por dieta (popup maçã)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0F2A56"/>
                </a:solidFill>
                <a:latin typeface="Calibri"/>
              </a:rPr>
              <a:t>•  Dieta travada no formulário do cardápio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0F2A56"/>
                </a:solidFill>
                <a:latin typeface="Calibri"/>
              </a:rPr>
              <a:t>•  Abas: grandes, pequenas e líquidas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0F2A56"/>
                </a:solidFill>
                <a:latin typeface="Calibri"/>
              </a:rPr>
              <a:t>•  Dietas líquidas e pratos associados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Calibri"/>
              </a:rPr>
              <a:t>São Geraldo Service  ·  Nutrição Hospitalar  ·  5/13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355080"/>
            <a:ext cx="8229600" cy="5000"/>
          </a:xfrm>
          <a:prstGeom prst="rect">
            <a:avLst/>
          </a:prstGeom>
          <a:solidFill>
            <a:srgbClr val="C5D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8C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Precificação e faturamento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B5563"/>
                </a:solidFill>
                <a:latin typeface="Calibri"/>
              </a:rPr>
              <a:t>Transparência financeira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0F2A56"/>
                </a:solidFill>
                <a:latin typeface="Calibri"/>
              </a:rPr>
              <a:t>•  Grade Dieta × Tipo de Refeição com três perfis: Funcionário, Paciente e Acompanhante.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2A56"/>
                </a:solidFill>
                <a:latin typeface="Calibri"/>
              </a:rPr>
              <a:t>•  Edição com opção de replicar o mesmo valor nas três colunas.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2A56"/>
                </a:solidFill>
                <a:latin typeface="Calibri"/>
              </a:rPr>
              <a:t>•  Faturamento por período: espelhos, totais, fórmulas/enterais e complementares.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2A56"/>
                </a:solidFill>
                <a:latin typeface="Calibri"/>
              </a:rPr>
              <a:t>•  Exportação e impressão para conferência com a diretoria e o financeiro.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2A56"/>
                </a:solidFill>
                <a:latin typeface="Calibri"/>
              </a:rPr>
              <a:t>•  Mesma base do mapa — reduz divergência entre produção e cobrança.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Calibri"/>
              </a:rPr>
              <a:t>São Geraldo Service  ·  Nutrição Hospitalar  ·  6/13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8229600" cy="5000"/>
          </a:xfrm>
          <a:prstGeom prst="rect">
            <a:avLst/>
          </a:prstGeom>
          <a:solidFill>
            <a:srgbClr val="C5D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8C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Estoque e fornecedores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B5563"/>
                </a:solidFill>
                <a:latin typeface="Calibri"/>
              </a:rPr>
              <a:t>Suporte à produção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0F2A56"/>
                </a:solidFill>
                <a:latin typeface="Calibri"/>
              </a:rPr>
              <a:t>•  Produtos com código, grupo, quantidades, preços médio e último, mínimos e máximos.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2A56"/>
                </a:solidFill>
                <a:latin typeface="Calibri"/>
              </a:rPr>
              <a:t>•  Unidades de medida com flags para nutrientes, UMA, estoque e pratos.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2A56"/>
                </a:solidFill>
                <a:latin typeface="Calibri"/>
              </a:rPr>
              <a:t>•  Cadastro completo de fornecedores (CNPJ, contato, prazos).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2A56"/>
                </a:solidFill>
                <a:latin typeface="Calibri"/>
              </a:rPr>
              <a:t>•  Tela de estoque com abas de produtos, movimentações, alertas e unidades.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Calibri"/>
              </a:rPr>
              <a:t>São Geraldo Service  ·  Nutrição Hospitalar  ·  7/13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8229600" cy="5000"/>
          </a:xfrm>
          <a:prstGeom prst="rect">
            <a:avLst/>
          </a:prstGeom>
          <a:solidFill>
            <a:srgbClr val="C5D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8C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Nutrientes e qualidade da informação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B5563"/>
                </a:solidFill>
                <a:latin typeface="Calibri"/>
              </a:rPr>
              <a:t>Base científica operacional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0F2A56"/>
                </a:solidFill>
                <a:latin typeface="Calibri"/>
              </a:rPr>
              <a:t>•  Tabelas locais de alimentos com macros e micronutrientes (por 100 g / 100 ml).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2A56"/>
                </a:solidFill>
                <a:latin typeface="Calibri"/>
              </a:rPr>
              <a:t>•  Indicadores úteis à prática: glúten, fenilalanina, coeficiente NPU, referência de consumo.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2A56"/>
                </a:solidFill>
                <a:latin typeface="Calibri"/>
              </a:rPr>
              <a:t>•  Importação da FoodData Central (USDA) via ZIP/JSON — atualização estruturada do catálogo.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2A56"/>
                </a:solidFill>
                <a:latin typeface="Calibri"/>
              </a:rPr>
              <a:t>•  Cardápios e substituições do mapa se apoiam nessa base cadastral.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Calibri"/>
              </a:rPr>
              <a:t>São Geraldo Service  ·  Nutrição Hospitalar  ·  8/13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8229600" cy="5000"/>
          </a:xfrm>
          <a:prstGeom prst="rect">
            <a:avLst/>
          </a:prstGeom>
          <a:solidFill>
            <a:srgbClr val="C5D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8C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Rastreabilidade e governança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B5563"/>
                </a:solidFill>
                <a:latin typeface="Calibri"/>
              </a:rPr>
              <a:t>Quem fez, quando e por quê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0F2A56"/>
                </a:solidFill>
                <a:latin typeface="Calibri"/>
              </a:rPr>
              <a:t>•  Toda alteração relevante no mapa registra usuário e data/hora.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2A56"/>
                </a:solidFill>
                <a:latin typeface="Calibri"/>
              </a:rPr>
              <a:t>•  Saída do mapa exige motivo: alta médica, óbito ou transferência (com hospital destino).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2A56"/>
                </a:solidFill>
                <a:latin typeface="Calibri"/>
              </a:rPr>
              <a:t>•  Histórico preservado — não se “apaga” o passado operacional.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2A56"/>
                </a:solidFill>
                <a:latin typeface="Calibri"/>
              </a:rPr>
              <a:t>•  Link direto para o módulo de Auditoria da plataforma São Geraldo Service.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2A56"/>
                </a:solidFill>
                <a:latin typeface="Calibri"/>
              </a:rPr>
              <a:t>•  Avisos de inconsistência (alta em mapas futuros) para decisão consciente da equipe.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Calibri"/>
              </a:rPr>
              <a:t>São Geraldo Service  ·  Nutrição Hospitalar  ·  9/13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8229600" cy="5000"/>
          </a:xfrm>
          <a:prstGeom prst="rect">
            <a:avLst/>
          </a:prstGeom>
          <a:solidFill>
            <a:srgbClr val="C5D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8C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Segurança e disponibilidade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B5563"/>
                </a:solidFill>
                <a:latin typeface="Calibri"/>
              </a:rPr>
              <a:t>Acesso controlado e contínuo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0F2A56"/>
                </a:solidFill>
                <a:latin typeface="Calibri"/>
              </a:rPr>
              <a:t>•  Login na plataforma antes do uso dos sistemas.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2A56"/>
                </a:solidFill>
                <a:latin typeface="Calibri"/>
              </a:rPr>
              <a:t>•  Serviço local em HTTP (porta 80) e HTTPS (porta 443), com certificado para ambiente interno.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2A56"/>
                </a:solidFill>
                <a:latin typeface="Calibri"/>
              </a:rPr>
              <a:t>•  Inicialização simplificada: iniciar_meuapp.bat (banco + aplicação + navegador).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2A56"/>
                </a:solidFill>
                <a:latin typeface="Calibri"/>
              </a:rPr>
              <a:t>•  Dados em MySQL — backup periódica do banco é prática recomendada de TI (fora da tela do módulo).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2A56"/>
                </a:solidFill>
                <a:latin typeface="Calibri"/>
              </a:rPr>
              <a:t>•  Sessão identifica o profissional nas alterações do mapa.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Calibri"/>
              </a:rPr>
              <a:t>São Geraldo Service  ·  Nutrição Hospitalar  ·  10/13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8229600" cy="5000"/>
          </a:xfrm>
          <a:prstGeom prst="rect">
            <a:avLst/>
          </a:prstGeom>
          <a:solidFill>
            <a:srgbClr val="C5D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8C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Benefícios para a Diretoria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B5563"/>
                </a:solidFill>
                <a:latin typeface="Calibri"/>
              </a:rPr>
              <a:t>Controle, padronização e histórico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3566160" cy="329184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3566160" cy="109728"/>
          </a:xfrm>
          <a:prstGeom prst="rect">
            <a:avLst/>
          </a:prstGeom>
          <a:solidFill>
            <a:srgbClr val="A8C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B4F9C"/>
                </a:solidFill>
                <a:latin typeface="Calibri"/>
              </a:rPr>
              <a:t>Controle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3108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F2A56"/>
                </a:solidFill>
                <a:latin typeface="Calibri"/>
              </a:rPr>
              <a:t>Mapa único do dia por unidade; menos retrabalho e menos falha de comunicação.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737360"/>
            <a:ext cx="3566160" cy="329184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737360"/>
            <a:ext cx="3566160" cy="109728"/>
          </a:xfrm>
          <a:prstGeom prst="rect">
            <a:avLst/>
          </a:prstGeom>
          <a:solidFill>
            <a:srgbClr val="A8C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1031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B4F9C"/>
                </a:solidFill>
                <a:latin typeface="Calibri"/>
              </a:rPr>
              <a:t>Padronização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743200"/>
            <a:ext cx="3108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F2A56"/>
                </a:solidFill>
                <a:latin typeface="Calibri"/>
              </a:rPr>
              <a:t>Dietas, horários, cardápios e preços alinhados entre turnos e equipes.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737360"/>
            <a:ext cx="3566160" cy="329184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737360"/>
            <a:ext cx="3566160" cy="109728"/>
          </a:xfrm>
          <a:prstGeom prst="rect">
            <a:avLst/>
          </a:prstGeom>
          <a:solidFill>
            <a:srgbClr val="A8C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1031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B4F9C"/>
                </a:solidFill>
                <a:latin typeface="Calibri"/>
              </a:rPr>
              <a:t>Histórico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743200"/>
            <a:ext cx="3108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F2A56"/>
                </a:solidFill>
                <a:latin typeface="Calibri"/>
              </a:rPr>
              <a:t>Motivos de saída e usuário nas alterações — base para auditoria e melhoria contínua.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Calibri"/>
              </a:rPr>
              <a:t>São Geraldo Service  ·  Nutrição Hospitalar  ·  11/13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355080"/>
            <a:ext cx="8229600" cy="5000"/>
          </a:xfrm>
          <a:prstGeom prst="rect">
            <a:avLst/>
          </a:prstGeom>
          <a:solidFill>
            <a:srgbClr val="C5D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8C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Próximos passos (roadmap leve)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B5563"/>
                </a:solidFill>
                <a:latin typeface="Calibri"/>
              </a:rPr>
              <a:t>Evolução contínua — sem métricas artificiais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0F2A56"/>
                </a:solidFill>
                <a:latin typeface="Calibri"/>
              </a:rPr>
              <a:t>•  Aprofundar movimentações e alertas de estoque no dia a dia.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2A56"/>
                </a:solidFill>
                <a:latin typeface="Calibri"/>
              </a:rPr>
              <a:t>•  Consolidar painéis gerenciais (custos × mapa × faturamento) para a diretoria.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2A56"/>
                </a:solidFill>
                <a:latin typeface="Calibri"/>
              </a:rPr>
              <a:t>•  Ampliar utilitários já esboçados (totalização direta, autorizações).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2A56"/>
                </a:solidFill>
                <a:latin typeface="Calibri"/>
              </a:rPr>
              <a:t>•  Avaliar integração com prontuário/HIS quando a instituição priorizar.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2A56"/>
                </a:solidFill>
                <a:latin typeface="Calibri"/>
              </a:rPr>
              <a:t>•  Refinar políticas de acesso e treinamento contínuo das equipes.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Calibri"/>
              </a:rPr>
              <a:t>São Geraldo Service  ·  Nutrição Hospitalar  ·  12/13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8229600" cy="5000"/>
          </a:xfrm>
          <a:prstGeom prst="rect">
            <a:avLst/>
          </a:prstGeom>
          <a:solidFill>
            <a:srgbClr val="C5D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8C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Obrigado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E7EEF8"/>
                </a:solidFill>
                <a:latin typeface="Calibri"/>
              </a:rPr>
              <a:t>São Geraldo Service — Nutrição Hospitalar
Documentação completa e manual do usuário disponíveis em docs/nutricao/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A8C53A"/>
                </a:solidFill>
                <a:latin typeface="Calibri"/>
              </a:rPr>
              <a:t>Perguntas e encaminhamentos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